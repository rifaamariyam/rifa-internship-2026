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0F5F3"/>
                </a:solidFill>
                <a:latin typeface="Calibri"/>
              </a:defRPr>
            </a:pPr>
            <a:r>
              <a:t>MUSHROOM YIELD FORECASTING</a:t>
            </a:r>
          </a:p>
          <a:p>
            <a:pPr>
              <a:spcBef>
                <a:spcPts val="1000"/>
              </a:spcBef>
              <a:defRPr sz="2000">
                <a:solidFill>
                  <a:srgbClr val="52B788"/>
                </a:solidFill>
                <a:latin typeface="Calibri"/>
              </a:defRPr>
            </a:pPr>
            <a:r>
              <a:t>Predicting oyster mushroom yield using environmental sensor data &amp; machine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931920"/>
            <a:ext cx="3657600" cy="3657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0F5F3"/>
                </a:solidFill>
              </a:defRPr>
            </a:pPr>
            <a:r>
              <a:t>Author: Rifa Mariyam</a:t>
            </a:r>
          </a:p>
          <a:p>
            <a:pPr>
              <a:spcBef>
                <a:spcPts val="400"/>
              </a:spcBef>
              <a:defRPr sz="1200">
                <a:solidFill>
                  <a:srgbClr val="8CA59B"/>
                </a:solidFill>
              </a:defRPr>
            </a:pPr>
            <a:r>
              <a:t>Role: Machine Learning Intern</a:t>
            </a:r>
          </a:p>
          <a:p>
            <a:pPr>
              <a:spcBef>
                <a:spcPts val="400"/>
              </a:spcBef>
              <a:defRPr sz="1100">
                <a:solidFill>
                  <a:srgbClr val="52B788"/>
                </a:solidFill>
              </a:defRPr>
            </a:pPr>
            <a:r>
              <a:t>Application URL: https://rifa-internship-2026-red5fn7mfjcq5pg8mms7ty.streamlit.app/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20-Day End-to-End Development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96596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783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Days 1-5</a:t>
            </a:r>
          </a:p>
          <a:p>
            <a:pPr>
              <a:spcAft>
                <a:spcPts val="1000"/>
              </a:spcAft>
              <a:defRPr sz="1400" b="1">
                <a:solidFill>
                  <a:srgbClr val="F0F5F3"/>
                </a:solidFill>
                <a:latin typeface="Calibri"/>
              </a:defRPr>
            </a:pPr>
            <a:r>
              <a:t>1. Ingest &amp; Clean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Setup environment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Ingest CSV data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Convert to Parquet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Deduplicate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Data Quality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6935" y="1645920"/>
            <a:ext cx="196596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08375" y="1783080"/>
            <a:ext cx="1783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Days 6-8</a:t>
            </a:r>
          </a:p>
          <a:p>
            <a:pPr>
              <a:spcAft>
                <a:spcPts val="1000"/>
              </a:spcAft>
              <a:defRPr sz="1400" b="1">
                <a:solidFill>
                  <a:srgbClr val="F0F5F3"/>
                </a:solidFill>
                <a:latin typeface="Calibri"/>
              </a:defRPr>
            </a:pPr>
            <a:r>
              <a:t>2. EDA &amp; Features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Summary stats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CV &amp; correlations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Interactive feature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MinMax scaling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Chronological split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1" y="1645920"/>
            <a:ext cx="196596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1" y="1783080"/>
            <a:ext cx="1783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Days 9-10</a:t>
            </a:r>
          </a:p>
          <a:p>
            <a:pPr>
              <a:spcAft>
                <a:spcPts val="1000"/>
              </a:spcAft>
              <a:defRPr sz="1400" b="1">
                <a:solidFill>
                  <a:srgbClr val="F0F5F3"/>
                </a:solidFill>
                <a:latin typeface="Calibri"/>
              </a:defRPr>
            </a:pPr>
            <a:r>
              <a:t>3. Baseline Model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Linear Regression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MAE, RMSE, R2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Feature coefficients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Residual analysis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Diagnostics check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7" y="1645920"/>
            <a:ext cx="196596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9207" y="1783080"/>
            <a:ext cx="1783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Days 11-13</a:t>
            </a:r>
          </a:p>
          <a:p>
            <a:pPr>
              <a:spcAft>
                <a:spcPts val="1000"/>
              </a:spcAft>
              <a:defRPr sz="1400" b="1">
                <a:solidFill>
                  <a:srgbClr val="F0F5F3"/>
                </a:solidFill>
                <a:latin typeface="Calibri"/>
              </a:defRPr>
            </a:pPr>
            <a:r>
              <a:t>4. RF &amp; Tuning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Random Forest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Feature importances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TimeSeriesSplit CV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GridSearchCV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Overfitting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73184" y="1645920"/>
            <a:ext cx="196596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64624" y="1783080"/>
            <a:ext cx="1783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Days 14-20</a:t>
            </a:r>
          </a:p>
          <a:p>
            <a:pPr>
              <a:spcAft>
                <a:spcPts val="1000"/>
              </a:spcAft>
              <a:defRPr sz="1400" b="1">
                <a:solidFill>
                  <a:srgbClr val="F0F5F3"/>
                </a:solidFill>
                <a:latin typeface="Calibri"/>
              </a:defRPr>
            </a:pPr>
            <a:r>
              <a:t>5. Deploy &amp; Monitor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Champion selection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Streamlit UI app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Inference CLI / API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Community Cloud</a:t>
            </a:r>
          </a:p>
          <a:p>
            <a:pPr>
              <a:spcAft>
                <a:spcPts val="400"/>
              </a:spcAft>
              <a:defRPr sz="1100">
                <a:solidFill>
                  <a:srgbClr val="8CA59B"/>
                </a:solidFill>
                <a:latin typeface="Calibri"/>
              </a:defRPr>
            </a:pPr>
            <a:r>
              <a:t>• Prediction logging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DATA INGESTION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Converting Raw Sensor Readings to Structured Parquets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Data Ingestion (ingest.py)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Loads raw polyhouse sensor CSV files (`ingest.py`).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Performs initial format validation &amp; schema verification.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Converts date-times and saves as structured Parquet format (`01_loaded.parquet`).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Provides downstream components with high-performance query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Cleaning Strategy (clean.py)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Data Validation: Filters out out-of-range sensor readings.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Deduplication: Remapped timestamp and removed duplicate records (retained latest occurrence).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Imputation: Applied forward-fill (FFill) for missing sensor data.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Row Deletion: Missing target values (yield_kg) deleted to ensure training quality.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Output: 365 clean daily rows saved in `02_cleaned.parquet`.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B703"/>
                </a:solidFill>
                <a:latin typeface="Calibri"/>
              </a:defRPr>
            </a:pPr>
            <a:r>
              <a:t>Dataset size post-cleaning: 365 rows | 0 missing target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Assessing Data Quality and Variable Relationships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Data Quality &amp; Distributions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Date Range: Covers a full yearly timeline of daily recordings.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Coefficient of Variation (CV): Calculated to compare relative dispersion of Temp, Humidity, and CO2.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Distribution shape analyzed via Mean vs Median comparison (identifying skewness).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Generated Markdown report saved at `reports/data_quality.md`.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Correlation &amp; Yield Drivers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Temperature (temperature_c): Displays the strongest positive correlation with mushroom yield.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Humidity (humidity_pct): High humidity is essential for oyster mushrooms; shows moderate positive correlation.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Carbon Dioxide (co2_ppm): Displays a weaker, negative correlation with yield (excessive CO2 restricts fruiting).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Visuals: Correlation Heatmap (`corr_heatmap.png`) &amp; Yield Scatter plots (`scatter_yield.png`) generated.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Data Leakage Prevention &amp; Feature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Feature Engineering &amp; Scaling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Interaction Feature: Created `temp_humid_interaction = (temperature_c x humidity_pct) / 100`.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Biological Rationale: Mushrooms grow based on the joint effect of heat and moisture, not just one variable.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MinMax Scaling: Scaled features to range [0, 1] to prevent dominant scales.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Leakage Prevention: Scaler fitted exclusively on training set and then applied to test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Chronological Train/Test Split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Strict 80/20 split based on temporal ordering (no random split) to simulate real-world forecasting.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Training samples: 292 (earlier 80%) | Test samples: 73 (later 20%).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Leakage Validation: Strict assertion checks that `test_start_date &gt; train_end_date`.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Outputs Saved: `X_train.npy`, `X_test.npy`, `y_train.npy`, `y_test.npy` and `minmax_scaler_train.joblib`.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BASELINE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Linear Regression Performance and Diagnostics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Baseline Linear Regression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Trained simple OLS Linear Regression on training data.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Serves as the benchmark model for subsequent complex models.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Coefficient analysis (directly comparable due to scaling):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  - Positive coefficients for Temperature and Humidity.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  - Negative coefficient for CO2.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Artifacts: Saved model to `models/linear_regression.joblib`.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Diagnostic Analysis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Residual Definition: Residual = Actual Yield - Predicted Yield.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Bias Check: Residuals are centered around zero, indicating no systematic under/overprediction bias.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Heteroscedasticity check: Residuals vs. Predicted Yield shows random distribution (no severe funnel pattern).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Nonlinearity check: Residuals vs. Humidity shows no strong curved pattern, confirming acceptable linear approximation.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ADVANCED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Random Forest Regressor &amp; Feature Importances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Random Forest Regression Model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Introduced Random Forest Regressor to capture non-linear relationships and feature interactions.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Configuration: `n_estimators=100`, `random_state=42`, `n_jobs=-1`.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Trained exclusively on 292 training samples, tested on 73.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Complexity Justification: Evaluate if RF reduces error metrics enough to justify the loss of interpretability.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Feature Importance Analysis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Extracted feature importances directly from `rf.feature_importances_`.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Results indicate relative contribution of environmental parameters.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Temperature and temperature-humidity interaction are key drivers.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Visualization: Generated horizontal bar chart at `reports/figures/rf_feature_importance.png`.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Artifact Saved: Trained model serialized in `models/random_forest.joblib`.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MODEL TUNING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Grid Search &amp; Time-Aware Cross-Validation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Time Series Cross-Validation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Replaced standard K-Fold CV with TimeSeriesSplit (5 folds).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Temporal ordering preserved: model is trained on past and evaluated on future observations.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Evaluated model stability across folds via MAE standard deviation.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Results: Random Forest shows slight overfitting, but stable scores. Logged to `reports/cv_results.md`.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Grid Search Hyperparameter Tuning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Search Space: 27 combinations (max_depth: None/8/16, min_samples_leaf: 1/3/5, n_estimators: 50/100/200).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Optimal parameters: max_depth=8, min_samples_leaf=5, n_estimators=100.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CV MAE: 0.466 | Test MAE: 0.445 (confirms successful generalization).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Edge analysis: min_samples_leaf is at the upper edge (5); larger values may yield further gains.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Tuned model saved to `models/random_forest_tuned.joblib`.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Performance Table &amp; Champion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52B788"/>
                </a:solidFill>
                <a:latin typeface="Calibri"/>
              </a:defRPr>
            </a:pPr>
            <a:r>
              <a:t>Model Evaluation on Untouched Chronological Test Set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194560"/>
          <a:ext cx="1036015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  <a:gridCol w="1554480"/>
                <a:gridCol w="1554480"/>
                <a:gridCol w="1856231"/>
              </a:tblGrid>
              <a:tr h="4114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52B788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2235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52B788"/>
                          </a:solidFill>
                        </a:defRPr>
                      </a:pPr>
                      <a:r>
                        <a:t>CV MAE</a:t>
                      </a:r>
                    </a:p>
                  </a:txBody>
                  <a:tcPr>
                    <a:solidFill>
                      <a:srgbClr val="2235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52B788"/>
                          </a:solidFill>
                        </a:defRPr>
                      </a:pPr>
                      <a:r>
                        <a:t>Test MAE</a:t>
                      </a:r>
                    </a:p>
                  </a:txBody>
                  <a:tcPr>
                    <a:solidFill>
                      <a:srgbClr val="2235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52B788"/>
                          </a:solidFill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2235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52B788"/>
                          </a:solidFill>
                        </a:defRPr>
                      </a:pPr>
                      <a:r>
                        <a:t>Test R²</a:t>
                      </a:r>
                    </a:p>
                  </a:txBody>
                  <a:tcPr>
                    <a:solidFill>
                      <a:srgbClr val="2235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52B788"/>
                          </a:solidFill>
                        </a:defRPr>
                      </a:pPr>
                      <a:r>
                        <a:t>Interpretability</a:t>
                      </a:r>
                    </a:p>
                  </a:txBody>
                  <a:tcPr>
                    <a:solidFill>
                      <a:srgbClr val="22352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0.491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0.462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0.584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0.320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8CA59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Random Forest (Default)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0.478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0.450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0.570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0.350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8CA59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826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Random Forest (Tuned) ★</a:t>
                      </a:r>
                    </a:p>
                  </a:txBody>
                  <a:tcPr>
                    <a:solidFill>
                      <a:srgbClr val="1C3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0.466</a:t>
                      </a:r>
                    </a:p>
                  </a:txBody>
                  <a:tcPr>
                    <a:solidFill>
                      <a:srgbClr val="1C3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0.445</a:t>
                      </a:r>
                    </a:p>
                  </a:txBody>
                  <a:tcPr>
                    <a:solidFill>
                      <a:srgbClr val="1C3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0.562</a:t>
                      </a:r>
                    </a:p>
                  </a:txBody>
                  <a:tcPr>
                    <a:solidFill>
                      <a:srgbClr val="1C3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0.369</a:t>
                      </a:r>
                    </a:p>
                  </a:txBody>
                  <a:tcPr>
                    <a:solidFill>
                      <a:srgbClr val="1C3A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0F5F3"/>
                          </a:solidFill>
                          <a:latin typeface="Calibri"/>
                        </a:defRPr>
                      </a:pPr>
                      <a:r>
                        <a:t>Medium-Low</a:t>
                      </a:r>
                    </a:p>
                  </a:txBody>
                  <a:tcPr>
                    <a:solidFill>
                      <a:srgbClr val="1C3A3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4114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B703"/>
                </a:solidFill>
              </a:defRPr>
            </a:pPr>
            <a:r>
              <a:t>Champion Model: Tuned Random Forest Regressor</a:t>
            </a:r>
          </a:p>
          <a:p>
            <a:pPr>
              <a:defRPr sz="1200">
                <a:solidFill>
                  <a:srgbClr val="F0F5F3"/>
                </a:solidFill>
                <a:latin typeface="Calibri"/>
              </a:defRPr>
            </a:pPr>
            <a:r>
              <a:t>Rationale: Demonstrated the lowest Test MAE (0.445) and highest R² (0.369) on unseen temporal test data, representing a substantial performance improvement over OLS baseline. Cross-validation MAE (0.466) is highly consistent with test performance, indicating robust generalization. Feature importance analysis guides growers on critical environmental limits.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INFERENCE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Production Streamlit Dashboard &amp; API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Inference Pipeline &amp; CLI API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Inference Module: Created `predict.py` with standalone command line and function API.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CLI usage: `python src/predict.py --temperature 22 --humidity 88 --co2 920`.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Saves assets in `models/`: `random_forest_tuned.joblib`, `minmax_scaler_train.joblib`, `feature_cols.json`.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Unit testing: Integrated `pytest` to validate local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Interactive Streamlit Dashboard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Hosted live app: Streamlit Community Cloud.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Live URL: https://rifa-internship-2026-red5fn7mfjcq5pg8mms7ty.streamlit.app/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Interactive Inputs: Temp &amp; humidity sliders, CO2 value inputs.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Dynamic Features: Cached model loading (`@st.cache_resource`), what-if sensitivity analysis, and out-of-range sensor warnings.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MODEL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Logging, Drift Management &amp; Future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Monitoring Plan &amp; Retraining Strategy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Inference Logging: Predictions logged to `logs/predictions.csv` with UTC timestamps &amp; inputs.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Drift Monitoring: Watch for sensor calibration issues (+5% humidity drift), seasonal trends, and crop changes.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Retraining Triggers: Hardware replacement, seasonal shifts, or monthly performance degradation.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Evaluation: Align machine learning metrics with operational business outcomes (harvest planning, waste reduction).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754879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52B788"/>
                </a:solidFill>
                <a:latin typeface="Calibri"/>
              </a:defRPr>
            </a:pPr>
            <a:r>
              <a:t>Future Project Roadmaps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Additional Sensors: Include soil moisture, light intensity, ventilation, and crop growth stage.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Automated Retraining: Setup monthly/quarterly pipeline to ingest new harvest observations.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Drift Alerts Dashboard: Automated dashboard to display drift indexes and send alerts.</a:t>
            </a:r>
          </a:p>
          <a:p>
            <a:pPr>
              <a:spcAft>
                <a:spcPts val="6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•  Multi-Polyhouse: Scalable architecture supporting multiple environments with individual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2B788"/>
                </a:solidFill>
                <a:latin typeface="Calibri"/>
              </a:defRPr>
            </a:pPr>
            <a:r>
              <a:t>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0F5F3"/>
                </a:solidFill>
                <a:latin typeface="Calibri"/>
              </a:defRPr>
            </a:pPr>
            <a:r>
              <a:t>Key Deliverables &amp; 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5912" cy="18288"/>
          </a:xfrm>
          <a:prstGeom prst="rect">
            <a:avLst/>
          </a:prstGeom>
          <a:solidFill>
            <a:srgbClr val="283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8CA59B"/>
                </a:solidFill>
                <a:latin typeface="Calibri"/>
              </a:defRPr>
            </a:pPr>
            <a:r>
              <a:t>Mushroom Yield Forecasting Project | Technical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82621"/>
          </a:solidFill>
          <a:ln w="19050">
            <a:solidFill>
              <a:srgbClr val="283C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94392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52B788"/>
                </a:solidFill>
              </a:defRPr>
            </a:pPr>
            <a:r>
              <a:t>Key Deliverables Achieved:</a:t>
            </a:r>
          </a:p>
          <a:p>
            <a:pPr>
              <a:spcAft>
                <a:spcPts val="10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✓  End-to-End Production ML Pipeline: From raw data ingestion, robust cleaning, scalable preprocessing to deployment.</a:t>
            </a:r>
          </a:p>
          <a:p>
            <a:pPr>
              <a:spcAft>
                <a:spcPts val="10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✓  Anti-Leakage Validation: Strict chronological split and TimeSeriesSplit CV to guarantee performance estimates are reliable.</a:t>
            </a:r>
          </a:p>
          <a:p>
            <a:pPr>
              <a:spcAft>
                <a:spcPts val="10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✓  Optimized Champion Model: Tuned Random Forest Regressor yielding 0.445 MAE and 0.369 R² on unseen future data.</a:t>
            </a:r>
          </a:p>
          <a:p>
            <a:pPr>
              <a:spcAft>
                <a:spcPts val="10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✓  Cloud-Deployed Dashboard: Real-time decision-support Streamlit tool featuring interactive input limits, warnings, and sensitivity analysis.</a:t>
            </a:r>
          </a:p>
          <a:p>
            <a:pPr>
              <a:spcAft>
                <a:spcPts val="1000"/>
              </a:spcAft>
              <a:defRPr sz="1300">
                <a:solidFill>
                  <a:srgbClr val="F0F5F3"/>
                </a:solidFill>
                <a:latin typeface="Calibri"/>
              </a:defRPr>
            </a:pPr>
            <a:r>
              <a:t>✓  Production Operations: Logging system in place to detect data/sensor drift and establish retraining criteria.</a:t>
            </a:r>
          </a:p>
          <a:p>
            <a:pPr>
              <a:spcBef>
                <a:spcPts val="1500"/>
              </a:spcBef>
              <a:defRPr sz="1400" b="1">
                <a:solidFill>
                  <a:srgbClr val="FFB703"/>
                </a:solidFill>
                <a:latin typeface="Calibri"/>
              </a:defRPr>
            </a:pPr>
            <a:r>
              <a:t>Operational Impact: Provides growers with actionable yield insights to optimize planting, improve market planning, and manage resources efficiently.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